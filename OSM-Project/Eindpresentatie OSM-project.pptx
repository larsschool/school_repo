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5143500" cx="9144000"/>
  <p:notesSz cx="6858000" cy="9144000"/>
  <p:embeddedFontLst>
    <p:embeddedFont>
      <p:font typeface="Raleway"/>
      <p:regular r:id="rId28"/>
      <p:bold r:id="rId29"/>
      <p:italic r:id="rId30"/>
      <p:boldItalic r:id="rId31"/>
    </p:embeddedFont>
    <p:embeddedFont>
      <p:font typeface="Lato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aleway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aleway-boldItalic.fntdata"/><Relationship Id="rId30" Type="http://schemas.openxmlformats.org/officeDocument/2006/relationships/font" Target="fonts/Raleway-italic.fntdata"/><Relationship Id="rId11" Type="http://schemas.openxmlformats.org/officeDocument/2006/relationships/slide" Target="slides/slide6.xml"/><Relationship Id="rId33" Type="http://schemas.openxmlformats.org/officeDocument/2006/relationships/font" Target="fonts/Lato-bold.fntdata"/><Relationship Id="rId10" Type="http://schemas.openxmlformats.org/officeDocument/2006/relationships/slide" Target="slides/slide5.xml"/><Relationship Id="rId32" Type="http://schemas.openxmlformats.org/officeDocument/2006/relationships/font" Target="fonts/Lato-regular.fntdata"/><Relationship Id="rId13" Type="http://schemas.openxmlformats.org/officeDocument/2006/relationships/slide" Target="slides/slide8.xml"/><Relationship Id="rId35" Type="http://schemas.openxmlformats.org/officeDocument/2006/relationships/font" Target="fonts/Lato-boldItalic.fntdata"/><Relationship Id="rId12" Type="http://schemas.openxmlformats.org/officeDocument/2006/relationships/slide" Target="slides/slide7.xml"/><Relationship Id="rId34" Type="http://schemas.openxmlformats.org/officeDocument/2006/relationships/font" Target="fonts/Lato-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.fntdata"/><Relationship Id="rId14" Type="http://schemas.openxmlformats.org/officeDocument/2006/relationships/slide" Target="slides/slide9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Owen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ad2c34c136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ad2c34c136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Eerst demo, dan testproces.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d2c34c1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d2c34c1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Owen en Eli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nl"/>
              <a:t>Methode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nl"/>
              <a:t>Bevindingen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nl"/>
              <a:t>Keuze 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Configuratie 3294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3 Goedkope machine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6 Dure machines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afwijk per jaar van 2% verdeling luxe basis 2:1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nl"/>
              <a:t>Uitbreiding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Bottleneck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lasmachine &amp; poedercoatmachine 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polijstmachine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constant aan, andere machines wachten op die 2 machines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nl"/>
              <a:t>machine vervangen met hogere productiesnelheid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als las &amp; poeder 37.5% omhoog dan 20% totaalprod omhoog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als polijst 25% omhoog dan 16% totaalprod omhoog</a:t>
            </a:r>
            <a:endParaRPr/>
          </a:p>
          <a:p>
            <a:pPr indent="-298450" lvl="2" marL="1371600" rtl="0" algn="l">
              <a:spcBef>
                <a:spcPts val="0"/>
              </a:spcBef>
              <a:spcAft>
                <a:spcPts val="0"/>
              </a:spcAft>
              <a:buSzPts val="1100"/>
              <a:buChar char="■"/>
            </a:pPr>
            <a:r>
              <a:rPr lang="nl"/>
              <a:t>als beide sneller dan totaalprod 43.6% omhoog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ad2c34c1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ad2c34c1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 en Nathan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ae2bf08fd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ae2bf08fd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ae2bf08fd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ae2bf08fd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8e91a79cfd_4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8e91a79cfd_4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8e91a79cf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8e91a79cf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af1e7aa192_16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af1e7aa192_1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8e91a79cfd_4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8e91a79cfd_4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af1e7aa192_1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af1e7aa192_1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af1e7aa192_1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af1e7aa192_1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8e91a79cfd_4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8e91a79cfd_4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8e91a79cfd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8e91a79cfd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af1e7aa192_16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af1e7aa192_16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af1e7aa192_16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af1e7aa192_16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ad2c34c1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ad2c34c1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Nathan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ad2c34c1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ad2c34c1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Owen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ad2c34c1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ad2c34c1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Eli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af0ab2a3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af0ab2a3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ad2c34c19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ad2c34c1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ad2c34c19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ad2c34c19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26.jpg"/><Relationship Id="rId5" Type="http://schemas.openxmlformats.org/officeDocument/2006/relationships/image" Target="../media/image25.png"/><Relationship Id="rId6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3.png"/><Relationship Id="rId11" Type="http://schemas.openxmlformats.org/officeDocument/2006/relationships/image" Target="../media/image17.png"/><Relationship Id="rId10" Type="http://schemas.openxmlformats.org/officeDocument/2006/relationships/image" Target="../media/image12.png"/><Relationship Id="rId12" Type="http://schemas.openxmlformats.org/officeDocument/2006/relationships/image" Target="../media/image24.png"/><Relationship Id="rId9" Type="http://schemas.openxmlformats.org/officeDocument/2006/relationships/image" Target="../media/image8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5.png"/><Relationship Id="rId8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OSM-project eindpresentatie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67750" y="3585475"/>
            <a:ext cx="2049000" cy="123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Eli van Holland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Nathan Kolpa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Owen Lemmens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Lars van Duijnhoven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6334125" y="4027700"/>
            <a:ext cx="1775700" cy="6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ESD-Engineering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6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15/01/2024</a:t>
            </a:r>
            <a:endParaRPr sz="16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Inleiding</a:t>
            </a:r>
            <a:endParaRPr/>
          </a:p>
        </p:txBody>
      </p:sp>
      <p:sp>
        <p:nvSpPr>
          <p:cNvPr id="94" name="Google Shape;94;p14"/>
          <p:cNvSpPr txBox="1"/>
          <p:nvPr>
            <p:ph idx="1" type="body"/>
          </p:nvPr>
        </p:nvSpPr>
        <p:spPr>
          <a:xfrm>
            <a:off x="727650" y="21333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Adviesrapport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Gekregen gegevens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De Simulatie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Demonstratie Simulatie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Demonstratie Visualizer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Demonstratie diagrammen in R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Testprocessen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Reflectie op project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nl" sz="1400"/>
              <a:t>Vragen?</a:t>
            </a:r>
            <a:endParaRPr sz="1400"/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>
            <a:alphaModFix/>
          </a:blip>
          <a:srcRect b="0" l="22624" r="20884" t="2619"/>
          <a:stretch/>
        </p:blipFill>
        <p:spPr>
          <a:xfrm>
            <a:off x="5011975" y="1751425"/>
            <a:ext cx="2409075" cy="23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Adviesrapport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Methode &amp; Validiteit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Bevindingen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Keuze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Uitbreiding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447" r="0" t="0"/>
          <a:stretch/>
        </p:blipFill>
        <p:spPr>
          <a:xfrm>
            <a:off x="4511325" y="489875"/>
            <a:ext cx="4632674" cy="465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 rotWithShape="1">
          <a:blip r:embed="rId4">
            <a:alphaModFix/>
          </a:blip>
          <a:srcRect b="9388" l="0" r="0" t="21731"/>
          <a:stretch/>
        </p:blipFill>
        <p:spPr>
          <a:xfrm>
            <a:off x="3334125" y="1300662"/>
            <a:ext cx="5869199" cy="3032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76198" y="3952025"/>
            <a:ext cx="5785074" cy="115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08400" y="0"/>
            <a:ext cx="2552875" cy="393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Gekregen gegevens</a:t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425" y="1025050"/>
            <a:ext cx="3672100" cy="368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150" y="3380000"/>
            <a:ext cx="4124999" cy="13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Opstellingen</a:t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325" y="2046125"/>
            <a:ext cx="3922925" cy="2372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2750" y="2046120"/>
            <a:ext cx="3922925" cy="23720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 txBox="1"/>
          <p:nvPr/>
        </p:nvSpPr>
        <p:spPr>
          <a:xfrm>
            <a:off x="4942775" y="4527400"/>
            <a:ext cx="574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3294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88525" y="4527400"/>
            <a:ext cx="574500" cy="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2304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>
            <p:ph type="title"/>
          </p:nvPr>
        </p:nvSpPr>
        <p:spPr>
          <a:xfrm>
            <a:off x="729450" y="1318650"/>
            <a:ext cx="40749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Toekomstige uitbreidingen</a:t>
            </a:r>
            <a:endParaRPr/>
          </a:p>
        </p:txBody>
      </p:sp>
      <p:sp>
        <p:nvSpPr>
          <p:cNvPr id="127" name="Google Shape;127;p18"/>
          <p:cNvSpPr txBox="1"/>
          <p:nvPr/>
        </p:nvSpPr>
        <p:spPr>
          <a:xfrm>
            <a:off x="729450" y="3431075"/>
            <a:ext cx="41052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nl" sz="1300">
                <a:solidFill>
                  <a:srgbClr val="7096FF"/>
                </a:solidFill>
                <a:latin typeface="Lato"/>
                <a:ea typeface="Lato"/>
                <a:cs typeface="Lato"/>
                <a:sym typeface="Lato"/>
              </a:rPr>
              <a:t>30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nl" sz="1300">
                <a:solidFill>
                  <a:srgbClr val="FF5757"/>
                </a:solidFill>
                <a:latin typeface="Lato"/>
                <a:ea typeface="Lato"/>
                <a:cs typeface="Lato"/>
                <a:sym typeface="Lato"/>
              </a:rPr>
              <a:t>48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* 100 = 62,5%		100% - 62,5% = 37,5%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8" name="Google Shape;128;p18"/>
          <p:cNvSpPr txBox="1"/>
          <p:nvPr/>
        </p:nvSpPr>
        <p:spPr>
          <a:xfrm>
            <a:off x="729450" y="3700950"/>
            <a:ext cx="41052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nl" sz="1300">
                <a:solidFill>
                  <a:srgbClr val="73FF51"/>
                </a:solidFill>
                <a:latin typeface="Lato"/>
                <a:ea typeface="Lato"/>
                <a:cs typeface="Lato"/>
                <a:sym typeface="Lato"/>
              </a:rPr>
              <a:t>90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/ </a:t>
            </a:r>
            <a:r>
              <a:rPr lang="nl" sz="1300">
                <a:solidFill>
                  <a:srgbClr val="FF69AE"/>
                </a:solidFill>
                <a:latin typeface="Lato"/>
                <a:ea typeface="Lato"/>
                <a:cs typeface="Lato"/>
                <a:sym typeface="Lato"/>
              </a:rPr>
              <a:t>120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* 100 = 75%		100% - 75% = 25%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729450" y="4465900"/>
            <a:ext cx="4638300" cy="4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Zie het analyserapport voor verdere diepgang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729450" y="2070500"/>
            <a:ext cx="5032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FF5757"/>
                </a:solidFill>
                <a:latin typeface="Lato"/>
                <a:ea typeface="Lato"/>
                <a:cs typeface="Lato"/>
                <a:sym typeface="Lato"/>
              </a:rPr>
              <a:t>B1-17</a:t>
            </a:r>
            <a:r>
              <a:rPr lang="nl" sz="1300">
                <a:solidFill>
                  <a:srgbClr val="FF5757"/>
                </a:solidFill>
                <a:latin typeface="Lato"/>
                <a:ea typeface="Lato"/>
                <a:cs typeface="Lato"/>
                <a:sym typeface="Lato"/>
              </a:rPr>
              <a:t>. </a:t>
            </a:r>
            <a:r>
              <a:rPr lang="nl" sz="1300">
                <a:solidFill>
                  <a:srgbClr val="FF5757"/>
                </a:solidFill>
                <a:latin typeface="Lato"/>
                <a:ea typeface="Lato"/>
                <a:cs typeface="Lato"/>
                <a:sym typeface="Lato"/>
              </a:rPr>
              <a:t>Lasmachine &amp; poedercoatmachine productiesnelheid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48 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7096FF"/>
                </a:solidFill>
                <a:latin typeface="Lato"/>
                <a:ea typeface="Lato"/>
                <a:cs typeface="Lato"/>
                <a:sym typeface="Lato"/>
              </a:rPr>
              <a:t>B2-18. Inpakmachine bas</a:t>
            </a:r>
            <a:r>
              <a:rPr lang="nl" sz="1300">
                <a:solidFill>
                  <a:srgbClr val="7096FF"/>
                </a:solidFill>
                <a:latin typeface="Lato"/>
                <a:ea typeface="Lato"/>
                <a:cs typeface="Lato"/>
                <a:sym typeface="Lato"/>
              </a:rPr>
              <a:t>is productiesnelheid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30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729450" y="2783600"/>
            <a:ext cx="46935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FF69AE"/>
                </a:solidFill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nl" sz="1300">
                <a:solidFill>
                  <a:srgbClr val="FF69AE"/>
                </a:solidFill>
                <a:latin typeface="Lato"/>
                <a:ea typeface="Lato"/>
                <a:cs typeface="Lato"/>
                <a:sym typeface="Lato"/>
              </a:rPr>
              <a:t>1-10. </a:t>
            </a:r>
            <a:r>
              <a:rPr lang="nl" sz="1300">
                <a:solidFill>
                  <a:srgbClr val="FF69AE"/>
                </a:solidFill>
                <a:latin typeface="Lato"/>
                <a:ea typeface="Lato"/>
                <a:cs typeface="Lato"/>
                <a:sym typeface="Lato"/>
              </a:rPr>
              <a:t>Polijstmachine productiesnelheid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120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73FF51"/>
                </a:solidFill>
                <a:latin typeface="Lato"/>
                <a:ea typeface="Lato"/>
                <a:cs typeface="Lato"/>
                <a:sym typeface="Lato"/>
              </a:rPr>
              <a:t>D2-2. </a:t>
            </a:r>
            <a:r>
              <a:rPr lang="nl" sz="1300">
                <a:solidFill>
                  <a:srgbClr val="73FF51"/>
                </a:solidFill>
                <a:latin typeface="Lato"/>
                <a:ea typeface="Lato"/>
                <a:cs typeface="Lato"/>
                <a:sym typeface="Lato"/>
              </a:rPr>
              <a:t>Lijmmachine productiesnelheid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 = 90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729450" y="4010800"/>
            <a:ext cx="52497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(</a:t>
            </a:r>
            <a:r>
              <a:rPr lang="nl" sz="1300">
                <a:solidFill>
                  <a:srgbClr val="9900FF"/>
                </a:solidFill>
                <a:latin typeface="Lato"/>
                <a:ea typeface="Lato"/>
                <a:cs typeface="Lato"/>
                <a:sym typeface="Lato"/>
              </a:rPr>
              <a:t>1887 + 922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/ (</a:t>
            </a:r>
            <a:r>
              <a:rPr lang="nl" sz="1300">
                <a:solidFill>
                  <a:srgbClr val="0000FF"/>
                </a:solidFill>
                <a:latin typeface="Lato"/>
                <a:ea typeface="Lato"/>
                <a:cs typeface="Lato"/>
                <a:sym typeface="Lato"/>
              </a:rPr>
              <a:t>1315 + 641</a:t>
            </a: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) * 100 = 143,6         143,5% - 100% = 43,6%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33" name="Google Shape;13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0975" y="859750"/>
            <a:ext cx="2490575" cy="3912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>
            <p:ph type="title"/>
          </p:nvPr>
        </p:nvSpPr>
        <p:spPr>
          <a:xfrm>
            <a:off x="729450" y="1318650"/>
            <a:ext cx="31101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 Simulatie</a:t>
            </a:r>
            <a:endParaRPr/>
          </a:p>
        </p:txBody>
      </p:sp>
      <p:sp>
        <p:nvSpPr>
          <p:cNvPr id="139" name="Google Shape;139;p19"/>
          <p:cNvSpPr txBox="1"/>
          <p:nvPr>
            <p:ph idx="1" type="body"/>
          </p:nvPr>
        </p:nvSpPr>
        <p:spPr>
          <a:xfrm>
            <a:off x="41620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ProductionControl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MachineControl(s)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TCP</a:t>
            </a:r>
            <a:endParaRPr/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2" y="735825"/>
            <a:ext cx="3496375" cy="41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Simulatie Berichten</a:t>
            </a:r>
            <a:endParaRPr/>
          </a:p>
        </p:txBody>
      </p:sp>
      <p:sp>
        <p:nvSpPr>
          <p:cNvPr id="146" name="Google Shape;146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ProductionControl houd de buffers bij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Library: Async en single-threaded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Efficiënt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7" name="Google Shape;14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4600" y="776913"/>
            <a:ext cx="49911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50" y="604675"/>
            <a:ext cx="6722099" cy="4357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Simulatie Berichten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DES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Geen centrale tijd</a:t>
            </a:r>
            <a:endParaRPr/>
          </a:p>
        </p:txBody>
      </p:sp>
      <p:pic>
        <p:nvPicPr>
          <p:cNvPr id="161" name="Google Shape;16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775" y="718613"/>
            <a:ext cx="4991100" cy="4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Simulatie Berichten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JSON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Length-prefix: meerdere berichten per verbinding</a:t>
            </a:r>
            <a:endParaRPr/>
          </a:p>
        </p:txBody>
      </p:sp>
      <p:sp>
        <p:nvSpPr>
          <p:cNvPr id="168" name="Google Shape;168;p23"/>
          <p:cNvSpPr txBox="1"/>
          <p:nvPr/>
        </p:nvSpPr>
        <p:spPr>
          <a:xfrm>
            <a:off x="729450" y="3670500"/>
            <a:ext cx="2994300" cy="12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"message_type": "takeOk",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"machineId": 1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3"/>
          <p:cNvSpPr txBox="1"/>
          <p:nvPr/>
        </p:nvSpPr>
        <p:spPr>
          <a:xfrm>
            <a:off x="5711250" y="399060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0017</a:t>
            </a:r>
            <a:r>
              <a:rPr lang="nl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{"t":"tO","m":1}</a:t>
            </a:r>
            <a:endParaRPr sz="13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70" name="Google Shape;170;p23"/>
          <p:cNvCxnSpPr>
            <a:stCxn id="168" idx="3"/>
            <a:endCxn id="169" idx="1"/>
          </p:cNvCxnSpPr>
          <p:nvPr/>
        </p:nvCxnSpPr>
        <p:spPr>
          <a:xfrm>
            <a:off x="3723750" y="4298400"/>
            <a:ext cx="1987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Verhouding 2:1</a:t>
            </a:r>
            <a:endParaRPr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729450" y="195502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Geen </a:t>
            </a:r>
            <a:r>
              <a:rPr lang="nl"/>
              <a:t>productieaantallen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Stoppen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Kritieke pad</a:t>
            </a:r>
            <a:endParaRPr/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775" y="2798176"/>
            <a:ext cx="8203377" cy="219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775" y="2798175"/>
            <a:ext cx="8203377" cy="219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775" y="3030402"/>
            <a:ext cx="8203377" cy="1954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6775" y="2798175"/>
            <a:ext cx="8203377" cy="2074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6775" y="2994300"/>
            <a:ext cx="8253624" cy="1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4920" y="2892576"/>
            <a:ext cx="7997343" cy="188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0775" y="2924356"/>
            <a:ext cx="8203377" cy="19426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4063" y="2970324"/>
            <a:ext cx="8636790" cy="207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5245" y="3013663"/>
            <a:ext cx="8095155" cy="1988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0775" y="3054176"/>
            <a:ext cx="8226012" cy="19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Configuratie</a:t>
            </a:r>
            <a:endParaRPr/>
          </a:p>
        </p:txBody>
      </p:sp>
      <p:sp>
        <p:nvSpPr>
          <p:cNvPr id="192" name="Google Shape;192;p2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Meer dan den deuvel</a:t>
            </a:r>
            <a:endParaRPr/>
          </a:p>
        </p:txBody>
      </p:sp>
      <p:pic>
        <p:nvPicPr>
          <p:cNvPr id="193" name="Google Shape;19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6125" y="690825"/>
            <a:ext cx="4704025" cy="445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Batch uitvoering</a:t>
            </a:r>
            <a:endParaRPr/>
          </a:p>
        </p:txBody>
      </p:sp>
      <p:sp>
        <p:nvSpPr>
          <p:cNvPr id="199" name="Google Shape;199;p2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Configuraties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Vooruitgang bijhouden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Opslag ruimte</a:t>
            </a:r>
            <a:endParaRPr/>
          </a:p>
        </p:txBody>
      </p:sp>
      <p:pic>
        <p:nvPicPr>
          <p:cNvPr id="200" name="Google Shape;20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4225" y="692125"/>
            <a:ext cx="4631977" cy="429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Visualisatie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CSV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nl"/>
              <a:t>Playback DES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5376" y="779550"/>
            <a:ext cx="4854249" cy="378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269550" y="3227425"/>
            <a:ext cx="2681100" cy="19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10,produceOK,677000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10,updateBuffer,677000,1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1,produce,612000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1,produceOK,612000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1,updateBuffer,612000,1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7,produce,308000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 sz="15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7,produceOK,308000</a:t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9975" y="939825"/>
            <a:ext cx="5886576" cy="415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Demonstratie Simulatie</a:t>
            </a:r>
            <a:endParaRPr/>
          </a:p>
        </p:txBody>
      </p:sp>
      <p:sp>
        <p:nvSpPr>
          <p:cNvPr id="221" name="Google Shape;221;p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Demonstratie Visualizer</a:t>
            </a:r>
            <a:endParaRPr/>
          </a:p>
        </p:txBody>
      </p:sp>
      <p:sp>
        <p:nvSpPr>
          <p:cNvPr id="227" name="Google Shape;227;p3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Demonstratie diagrammen in R</a:t>
            </a:r>
            <a:endParaRPr/>
          </a:p>
        </p:txBody>
      </p:sp>
      <p:sp>
        <p:nvSpPr>
          <p:cNvPr id="233" name="Google Shape;233;p3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Testplan</a:t>
            </a:r>
            <a:endParaRPr/>
          </a:p>
        </p:txBody>
      </p:sp>
      <p:sp>
        <p:nvSpPr>
          <p:cNvPr id="239" name="Google Shape;239;p32"/>
          <p:cNvSpPr txBox="1"/>
          <p:nvPr>
            <p:ph idx="1" type="body"/>
          </p:nvPr>
        </p:nvSpPr>
        <p:spPr>
          <a:xfrm>
            <a:off x="729450" y="2078875"/>
            <a:ext cx="2053500" cy="26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15 testcases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Precondities</a:t>
            </a:r>
            <a:br>
              <a:rPr lang="nl"/>
            </a:br>
            <a:r>
              <a:rPr lang="nl"/>
              <a:t>Verschillende terminals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/>
              <a:t>Stappen</a:t>
            </a:r>
            <a:br>
              <a:rPr lang="nl"/>
            </a:br>
            <a:r>
              <a:rPr lang="nl"/>
              <a:t>Exacte commando’s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Verwachte resultaten</a:t>
            </a:r>
            <a:br>
              <a:rPr lang="nl"/>
            </a:br>
            <a:r>
              <a:rPr lang="nl"/>
              <a:t>Exit codes</a:t>
            </a:r>
            <a:br>
              <a:rPr lang="nl"/>
            </a:br>
            <a:endParaRPr/>
          </a:p>
        </p:txBody>
      </p:sp>
      <p:pic>
        <p:nvPicPr>
          <p:cNvPr id="240" name="Google Shape;24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800" y="920075"/>
            <a:ext cx="5911401" cy="3761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Reflectie op het OSM-Project</a:t>
            </a:r>
            <a:endParaRPr/>
          </a:p>
        </p:txBody>
      </p:sp>
      <p:sp>
        <p:nvSpPr>
          <p:cNvPr id="246" name="Google Shape;246;p33"/>
          <p:cNvSpPr txBox="1"/>
          <p:nvPr>
            <p:ph idx="1" type="body"/>
          </p:nvPr>
        </p:nvSpPr>
        <p:spPr>
          <a:xfrm>
            <a:off x="729450" y="2078875"/>
            <a:ext cx="2053500" cy="26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Nathan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000"/>
              <a:t>Fijne tijd.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000"/>
              <a:t>Veel mensen geholpen.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000"/>
              <a:t>Projectmanagement</a:t>
            </a:r>
            <a:endParaRPr sz="1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nl"/>
              <a:t>Lars</a:t>
            </a:r>
            <a:br>
              <a:rPr lang="nl"/>
            </a:br>
            <a:r>
              <a:rPr lang="nl" sz="1000"/>
              <a:t>Begin slechter, einde beter</a:t>
            </a:r>
            <a:br>
              <a:rPr lang="nl" sz="1000"/>
            </a:br>
            <a:r>
              <a:rPr lang="nl" sz="1000"/>
              <a:t>Goede samenwerking</a:t>
            </a:r>
            <a:br>
              <a:rPr lang="nl" sz="1000"/>
            </a:br>
            <a:r>
              <a:rPr lang="nl" sz="1000"/>
              <a:t>Soms motivatieverlies</a:t>
            </a:r>
            <a:br>
              <a:rPr lang="nl" sz="1000"/>
            </a:br>
            <a:r>
              <a:rPr lang="nl" sz="1000"/>
              <a:t>Veel geleerd</a:t>
            </a:r>
            <a:endParaRPr sz="1000"/>
          </a:p>
        </p:txBody>
      </p:sp>
      <p:sp>
        <p:nvSpPr>
          <p:cNvPr id="247" name="Google Shape;247;p33"/>
          <p:cNvSpPr txBox="1"/>
          <p:nvPr/>
        </p:nvSpPr>
        <p:spPr>
          <a:xfrm>
            <a:off x="4401900" y="2078875"/>
            <a:ext cx="14016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Owen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Eli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nl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Af en Toe lastig .  goeie samenwerking.</a:t>
            </a:r>
            <a:br>
              <a:rPr lang="nl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nl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Wel een aantal baaldagjes.</a:t>
            </a:r>
            <a:br>
              <a:rPr lang="nl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nl"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Uiteindelijk veel geleerd.</a:t>
            </a:r>
            <a:endParaRPr sz="10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nl"/>
              <a:t>Algemene vragen</a:t>
            </a:r>
            <a:endParaRPr/>
          </a:p>
        </p:txBody>
      </p:sp>
      <p:sp>
        <p:nvSpPr>
          <p:cNvPr id="253" name="Google Shape;253;p3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